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our final project for BIT1123 Object Oriented Programming in Java: the Smart Clinic Management System, aligned with UN SDG 3. We'll walk through the system, its OOP design, and key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Java desktop app giving clinics a single, centralised interface for patients, doctors, appointments and prescriptions. It replaces scattered manual records and persists data in CSV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build a real GUI app, apply the four OOP pillars, use collections, persist data via CSV, enforce validation and business logic, and deliver an organised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aligns with SDG 3 by organising clinic information digitally, showing how software can support healthcare administration. Important: this is an educational project, not a medical diagnosis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features: manage patients, doctors, appointments and prescriptions; validate related IDs; auto-generate IDs; persist data via CSV; and show clinic statistics in the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is split into packages by responsibility: model holds data classes, service holds ClinicManager and FileManager, ui holds MainFrame, and clinic holds Main.java. Data files live in the data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OOP pillars: encapsulation via private fields and accessors; inheritance as Patient and Doctor extend Person; abstraction through Person's abstract methods; polymorphism via overridden displayInfo resolved at runtime. ClinicManager coordinates all model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polymorphism: Patient and Doctor inherit Person. A single List&lt;Person&gt; stores both. When we call person.displayInfo(), Java dispatches to the actual object's overridden method at runtime — one loop, many behaviours.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ClinicManager uses LinkedHashMap for each entity and a List&lt;Person&gt; for polymorphic storage. FileManager handles CSV reading and writing using the pipe delimiter, so data survives between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MainFrame is the Swing GUI. The user interacts with it; requests flow through ClinicManager to model objects, then FileManager, and finally to the CSV data files. Screenshots of the running GUI go in the placeholder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test cases cover both valid operations and the validation rules: invalid patient, doctor and appointment IDs are correctly rejected. File persistence and polymorphism are also verified. Screenshots go in the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the system demonstrates Java OOP in a realistic healthcare context, combining GUI, collections, persistence and validation while supporting SDG 3. Future work: a real database, authentication, smarter appointment checks, better reporting and a more accessible GUI. Thank you —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5.png"/><Relationship Id="rId6" Type="http://schemas.openxmlformats.org/officeDocument/2006/relationships/image" Target="../media/image2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7.png"/><Relationship Id="rId2" Type="http://schemas.openxmlformats.org/officeDocument/2006/relationships/image" Target="../media/image39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smart-clinic-ppt/assets/stethoscope.png"/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943600" y="1463040"/>
            <a:ext cx="2926080" cy="2926080"/>
          </a:xfrm>
          <a:prstGeom prst="rect">
            <a:avLst/>
          </a:prstGeom>
        </p:spPr>
      </p:pic>
      <p:pic>
        <p:nvPicPr>
          <p:cNvPr id="3" name="Image 1" descr="/home/z/my-project/smart-clinic-ppt/assets/cli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"/>
            <a:ext cx="292608" cy="2926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BIT1123   ·   OBJECT ORIENTED PROGRAMMING (JAVA)</a:t>
            </a:r>
            <a:endParaRPr lang="en-US" sz="1050" dirty="0"/>
          </a:p>
        </p:txBody>
      </p:sp>
      <p:sp>
        <p:nvSpPr>
          <p:cNvPr id="5" name="Shape 1"/>
          <p:cNvSpPr/>
          <p:nvPr/>
        </p:nvSpPr>
        <p:spPr>
          <a:xfrm>
            <a:off x="8229600" y="566928"/>
            <a:ext cx="118872" cy="11887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" name="Shape 2"/>
          <p:cNvSpPr/>
          <p:nvPr/>
        </p:nvSpPr>
        <p:spPr>
          <a:xfrm>
            <a:off x="8412480" y="603504"/>
            <a:ext cx="64008" cy="64008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3"/>
          <p:cNvSpPr/>
          <p:nvPr/>
        </p:nvSpPr>
        <p:spPr>
          <a:xfrm>
            <a:off x="8549640" y="640080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Text 4"/>
          <p:cNvSpPr/>
          <p:nvPr/>
        </p:nvSpPr>
        <p:spPr>
          <a:xfrm>
            <a:off x="457200" y="11155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PROJECT   ·   ACADEMIC YEAR 2025 / 2026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1481328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Clinic</a:t>
            </a:r>
            <a:endParaRPr lang="en-US" sz="5000" dirty="0"/>
          </a:p>
        </p:txBody>
      </p:sp>
      <p:sp>
        <p:nvSpPr>
          <p:cNvPr id="10" name="Text 6"/>
          <p:cNvSpPr/>
          <p:nvPr/>
        </p:nvSpPr>
        <p:spPr>
          <a:xfrm>
            <a:off x="457200" y="2212848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Management System</a:t>
            </a:r>
            <a:endParaRPr lang="en-US" sz="5000" dirty="0"/>
          </a:p>
        </p:txBody>
      </p:sp>
      <p:sp>
        <p:nvSpPr>
          <p:cNvPr id="11" name="Text 7"/>
          <p:cNvSpPr/>
          <p:nvPr/>
        </p:nvSpPr>
        <p:spPr>
          <a:xfrm>
            <a:off x="457200" y="3072384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Java desktop application modelling clinic activities — patients, doctors, appointments &amp; prescriptions.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58444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pic>
        <p:nvPicPr>
          <p:cNvPr id="13" name="Image 2" descr="/home/z/my-project/smart-clinic-ppt/assets/sd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6941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" y="3584448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SDG 3   ·   Good Health and Well-being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4077970"/>
            <a:ext cx="3931920" cy="1007110"/>
          </a:xfrm>
          <a:prstGeom prst="roundRect">
            <a:avLst>
              <a:gd name="adj" fmla="val 12821"/>
            </a:avLst>
          </a:prstGeom>
          <a:solidFill>
            <a:srgbClr val="0F3A3A"/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16" name="Image 3" descr="/home/z/my-project/smart-clinic-ppt/assets/user_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7797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9010" y="4453890"/>
            <a:ext cx="3291840" cy="307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1200" dirty="0"/>
              <a:t>1.Elmenoufy Mohamed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2..Rashid Mohamed Omer 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3.WALEID FADLLAH ELDIRDERY AHMED 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4.Adil Elkhedir Ahmed Elkhedir 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5.ABDELRHMAN ABDELRHMAN AHMED IBRAHEEM</a:t>
            </a:r>
            <a:endParaRPr lang="en-US" altLang="en-GB" sz="1200" dirty="0"/>
          </a:p>
        </p:txBody>
      </p:sp>
      <p:sp>
        <p:nvSpPr>
          <p:cNvPr id="19" name="Shape 13"/>
          <p:cNvSpPr/>
          <p:nvPr/>
        </p:nvSpPr>
        <p:spPr>
          <a:xfrm>
            <a:off x="4572000" y="4077970"/>
            <a:ext cx="4114800" cy="1006475"/>
          </a:xfrm>
          <a:prstGeom prst="roundRect">
            <a:avLst>
              <a:gd name="adj" fmla="val 12821"/>
            </a:avLst>
          </a:prstGeom>
          <a:solidFill>
            <a:srgbClr val="0F3A3A"/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20" name="Image 4" descr="/home/z/my-project/smart-clinic-ppt/assets/id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50995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40" y="4315460"/>
            <a:ext cx="3566160" cy="497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1200" dirty="0"/>
              <a:t>202401010544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202501010714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202501010472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202505010496</a:t>
            </a:r>
            <a:endParaRPr lang="en-US" altLang="en-GB" sz="1200" dirty="0"/>
          </a:p>
          <a:p>
            <a:pPr marL="0" indent="0">
              <a:buNone/>
            </a:pPr>
            <a:r>
              <a:rPr lang="en-US" altLang="en-GB" sz="1200" dirty="0"/>
              <a:t>202505010324</a:t>
            </a:r>
            <a:endParaRPr lang="en-US" altLang="en-GB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&amp; PURPOSE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8" name="Image 0" descr="/home/z/my-project/smart-clinic-ppt/assets/ques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3716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1627632"/>
            <a:ext cx="4370832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Java desktop application that models common clinic activities through a graphical user interface.</a:t>
            </a:r>
            <a:endParaRPr lang="en-US" sz="1250" dirty="0"/>
          </a:p>
        </p:txBody>
      </p:sp>
      <p:pic>
        <p:nvPicPr>
          <p:cNvPr id="11" name="Image 1" descr="/home/z/my-project/smart-clinic-ppt/assets/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5856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2402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problem does it address?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49808" y="2496312"/>
            <a:ext cx="4370832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Centralised management of clinic information that is otherwise scattered across manual records.</a:t>
            </a:r>
            <a:endParaRPr lang="en-US" sz="1250" dirty="0"/>
          </a:p>
        </p:txBody>
      </p:sp>
      <p:pic>
        <p:nvPicPr>
          <p:cNvPr id="14" name="Image 2" descr="/home/z/my-project/smart-clinic-ppt/asset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272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31089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application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49808" y="3364992"/>
            <a:ext cx="4370832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in Java Swing; data is stored in CSV files, loaded at start-up and saved after every change.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349240" y="1371600"/>
            <a:ext cx="33375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577840" y="157276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ENTITIES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577840" y="179222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model classes the system manages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577840" y="224028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3" descr="/home/z/my-project/smart-clinic-ppt/assets/pat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4" y="23774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62472" y="2304288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062472" y="2514600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Age, gender, phone, condition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577840" y="2862072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4" descr="/home/z/my-project/smart-clinic-ppt/assets/do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99923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62472" y="2926080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062472" y="313639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Contact, specialty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577840" y="3483864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5" descr="/home/z/my-project/smart-clinic-ppt/assets/appoint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424" y="362102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062472" y="354787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062472" y="3758184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↔ Doctor meeting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5577840" y="4105656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6" descr="/home/z/my-project/smart-clinic-ppt/assets/prescrip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4242816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062472" y="4169664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Prescription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062472" y="4379976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Medication per appointment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PROJECT OVERVIEW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SET OUT TO BUILD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Shape 6"/>
          <p:cNvSpPr/>
          <p:nvPr/>
        </p:nvSpPr>
        <p:spPr>
          <a:xfrm>
            <a:off x="457200" y="1371600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05456" y="1536192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1536192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300" dirty="0"/>
          </a:p>
        </p:txBody>
      </p:sp>
      <p:pic>
        <p:nvPicPr>
          <p:cNvPr id="11" name="Image 0" descr="/home/z/my-project/smart-clinic-ppt/assets/obj_gu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91056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944" y="199339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 GUI Application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" y="228600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functional desktop app for a clinic scenario.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64408" y="1371600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12664" y="1536192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12664" y="1536192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300" dirty="0"/>
          </a:p>
        </p:txBody>
      </p:sp>
      <p:pic>
        <p:nvPicPr>
          <p:cNvPr id="17" name="Image 1" descr="/home/z/my-project/smart-clinic-ppt/assets/obj_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59105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02152" y="199339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Apply OOP Concepts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02152" y="228600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Encapsulation, inheritance, abstraction, polymorphism.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71616" y="1371600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19872" y="1536192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19872" y="1536192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300" dirty="0"/>
          </a:p>
        </p:txBody>
      </p:sp>
      <p:pic>
        <p:nvPicPr>
          <p:cNvPr id="23" name="Image 2" descr="/home/z/my-project/smart-clinic-ppt/assets/obj_colle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91056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1993392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 Collections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09360" y="2286000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multiple clinic objects in memory.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3127248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505456" y="3291840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505456" y="3291840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300" dirty="0"/>
          </a:p>
        </p:txBody>
      </p:sp>
      <p:pic>
        <p:nvPicPr>
          <p:cNvPr id="29" name="Image 3" descr="/home/z/my-project/smart-clinic-ppt/assets/obj_file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346704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4944" y="3749040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File I/O &amp; CSV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94944" y="4041648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storage through CSV files.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264408" y="3127248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312664" y="3291840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12664" y="3291840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300" dirty="0"/>
          </a:p>
        </p:txBody>
      </p:sp>
      <p:pic>
        <p:nvPicPr>
          <p:cNvPr id="35" name="Image 4" descr="/home/z/my-project/smart-clinic-ppt/assets/obj_valid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346704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502152" y="3749040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Validation &amp; Business Logic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3502152" y="4041648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 rules for clinic operations.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071616" y="3127248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119872" y="3291840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119872" y="3291840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300" dirty="0"/>
          </a:p>
        </p:txBody>
      </p:sp>
      <p:pic>
        <p:nvPicPr>
          <p:cNvPr id="41" name="Image 5" descr="/home/z/my-project/smart-clinic-ppt/assets/obj_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46704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309360" y="3749040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Organised GitHub Project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6309360" y="4041648"/>
            <a:ext cx="215798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structure suitable for a repository.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OBJECTIVES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SDG 3 — Good Health and Well-being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SUSTAINABLE DEVELOPMENT ALIGNMENT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Shape 6"/>
          <p:cNvSpPr/>
          <p:nvPr/>
        </p:nvSpPr>
        <p:spPr>
          <a:xfrm>
            <a:off x="457200" y="1417320"/>
            <a:ext cx="3108960" cy="2743200"/>
          </a:xfrm>
          <a:prstGeom prst="roundRect">
            <a:avLst>
              <a:gd name="adj" fmla="val 4667"/>
            </a:avLst>
          </a:prstGeom>
          <a:solidFill>
            <a:srgbClr val="0B2B2B"/>
          </a:solidFill>
          <a:ln w="12700">
            <a:solidFill>
              <a:srgbClr val="115E59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pic>
        <p:nvPicPr>
          <p:cNvPr id="9" name="Image 0" descr="/home/z/my-project/smart-clinic-ppt/assets/sdg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1280160" cy="1280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2004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SDG 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HEALTH AND WELL-BEING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this project supports SDG 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31920" y="18745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an organised digital system for managing patient, doctor, appointment and prescription records.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clinic information in structured records accessible through a single interface.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Demonstrates how software can support more organised healthcare administration.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931920" y="342900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/home/z/my-project/smart-clinic-ppt/assets/fl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36301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98848" y="3557016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EDUCATIONAL PROJECT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498848" y="375818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educational software project — not a medical diagnosis system and not intended to replace professional medical systems.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SDG 3 ALIGNMENT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Features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CAPABILITY OVERVIEW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16184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0" name="Image 0" descr="/home/z/my-project/smart-clinic-ppt/assets/pati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1700784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2402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 Management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2587752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list &amp; delete patients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60320" y="141732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6184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5" name="Image 1" descr="/home/z/my-project/smart-clinic-ppt/assets/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70078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70048" y="22402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 Management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70048" y="2587752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list &amp; delete doctors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63440" y="141732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49240" y="16184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0" name="Image 2" descr="/home/z/my-project/smart-clinic-ppt/assets/appoin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70078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73168" y="22402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Appointment Management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73168" y="2587752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patients with doctors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66560" y="141732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52360" y="16184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5" name="Image 3" descr="/home/z/my-project/smart-clinic-ppt/assets/prescri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00784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22402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Prescription Management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587752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Medication per appointment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3191256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143000" y="33924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0" name="Image 4" descr="/home/z/my-project/smart-clinic-ppt/assets/valid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347472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66928" y="401421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66928" y="436168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related IDs before action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560320" y="3191256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246120" y="33924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5" name="Image 5" descr="/home/z/my-project/smart-clinic-ppt/assets/idg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3474720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670048" y="401421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ID Generation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2670048" y="436168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PT-001 · DR-001 · AP-001 · PR-001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663440" y="3191256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5349240" y="33924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40" name="Image 6" descr="/home/z/my-project/smart-clinic-ppt/assets/persiste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536" y="3474720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773168" y="401421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4773168" y="436168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&amp; load via CSV files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6766560" y="3191256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7452360" y="33924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45" name="Image 7" descr="/home/z/my-project/smart-clinic-ppt/assets/statistic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56" y="3474720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876288" y="401421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 Statistics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6876288" y="436168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&amp; summary in the GUI</a:t>
            </a:r>
            <a:endParaRPr lang="en-US" sz="950" dirty="0"/>
          </a:p>
        </p:txBody>
      </p:sp>
      <p:sp>
        <p:nvSpPr>
          <p:cNvPr id="48" name="Text 38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FEATURES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STRUCTURE &amp; PACKAGES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Shape 6"/>
          <p:cNvSpPr/>
          <p:nvPr/>
        </p:nvSpPr>
        <p:spPr>
          <a:xfrm>
            <a:off x="457200" y="137160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pic>
        <p:nvPicPr>
          <p:cNvPr id="9" name="Image 0" descr="/home/z/my-project/smart-clinic-ppt/asset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5910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15727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9264" y="182880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package-by-responsibility layout</a:t>
            </a:r>
            <a:endParaRPr lang="en-US" sz="1000" dirty="0"/>
          </a:p>
        </p:txBody>
      </p:sp>
      <p:pic>
        <p:nvPicPr>
          <p:cNvPr id="12" name="Image 1" descr="/home/z/my-project/smart-clinic-ppt/asset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31136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21284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src/</a:t>
            </a:r>
            <a:endParaRPr lang="en-US" sz="1150" dirty="0"/>
          </a:p>
        </p:txBody>
      </p:sp>
      <p:pic>
        <p:nvPicPr>
          <p:cNvPr id="14" name="Image 2" descr="/home/z/my-project/smart-clinic-ppt/asset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7345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2455164"/>
            <a:ext cx="30906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clinic/</a:t>
            </a:r>
            <a:endParaRPr lang="en-US" sz="1150" dirty="0"/>
          </a:p>
        </p:txBody>
      </p:sp>
      <p:pic>
        <p:nvPicPr>
          <p:cNvPr id="16" name="Image 3" descr="/home/z/my-project/smart-clinic-ppt/assets/file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271576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2697480"/>
            <a:ext cx="27980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Main.java</a:t>
            </a:r>
            <a:endParaRPr lang="en-US" sz="1150" dirty="0"/>
          </a:p>
        </p:txBody>
      </p:sp>
      <p:pic>
        <p:nvPicPr>
          <p:cNvPr id="18" name="Image 4" descr="/home/z/my-project/smart-clinic-ppt/asset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958084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2939796"/>
            <a:ext cx="27980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model/</a:t>
            </a:r>
            <a:endParaRPr lang="en-US" sz="1150" dirty="0"/>
          </a:p>
        </p:txBody>
      </p:sp>
      <p:pic>
        <p:nvPicPr>
          <p:cNvPr id="20" name="Image 5" descr="/home/z/my-project/smart-clinic-ppt/asset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320040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54480" y="3182112"/>
            <a:ext cx="27980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service/</a:t>
            </a:r>
            <a:endParaRPr lang="en-US" sz="1150" dirty="0"/>
          </a:p>
        </p:txBody>
      </p:sp>
      <p:pic>
        <p:nvPicPr>
          <p:cNvPr id="22" name="Image 6" descr="/home/z/my-project/smart-clinic-ppt/asset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3442716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554480" y="3424428"/>
            <a:ext cx="27980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ui/</a:t>
            </a:r>
            <a:endParaRPr lang="en-US" sz="1150" dirty="0"/>
          </a:p>
        </p:txBody>
      </p:sp>
      <p:pic>
        <p:nvPicPr>
          <p:cNvPr id="24" name="Image 7" descr="/home/z/my-project/smart-clinic-ppt/assets/fo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85032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69264" y="3666744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data/</a:t>
            </a:r>
            <a:endParaRPr lang="en-US" sz="1150" dirty="0"/>
          </a:p>
        </p:txBody>
      </p:sp>
      <p:pic>
        <p:nvPicPr>
          <p:cNvPr id="26" name="Image 8" descr="/home/z/my-project/smart-clinic-ppt/assets/file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27348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69264" y="390906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README.md</a:t>
            </a:r>
            <a:endParaRPr lang="en-US" sz="1150" dirty="0"/>
          </a:p>
        </p:txBody>
      </p:sp>
      <p:pic>
        <p:nvPicPr>
          <p:cNvPr id="28" name="Image 9" descr="/home/z/my-project/smart-clinic-ppt/assets/file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9664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69264" y="415137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UML.txt</a:t>
            </a:r>
            <a:endParaRPr lang="en-US" sz="1150" dirty="0"/>
          </a:p>
        </p:txBody>
      </p:sp>
      <p:pic>
        <p:nvPicPr>
          <p:cNvPr id="30" name="Image 10" descr="/home/z/my-project/smart-clinic-ppt/assets/file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11980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69264" y="439369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.gitignore</a:t>
            </a:r>
            <a:endParaRPr lang="en-US" sz="1150" dirty="0"/>
          </a:p>
        </p:txBody>
      </p:sp>
      <p:sp>
        <p:nvSpPr>
          <p:cNvPr id="32" name="Text 19"/>
          <p:cNvSpPr/>
          <p:nvPr/>
        </p:nvSpPr>
        <p:spPr>
          <a:xfrm>
            <a:off x="4846320" y="137160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Package Responsibilities</a:t>
            </a:r>
            <a:endParaRPr lang="en-US" sz="1400" dirty="0"/>
          </a:p>
        </p:txBody>
      </p:sp>
      <p:sp>
        <p:nvSpPr>
          <p:cNvPr id="33" name="Shape 20"/>
          <p:cNvSpPr/>
          <p:nvPr/>
        </p:nvSpPr>
        <p:spPr>
          <a:xfrm>
            <a:off x="4846320" y="1755648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1"/>
          <p:cNvSpPr/>
          <p:nvPr/>
        </p:nvSpPr>
        <p:spPr>
          <a:xfrm>
            <a:off x="4992624" y="1883664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CCFBF1"/>
          </a:solidFill>
        </p:spPr>
      </p:sp>
      <p:pic>
        <p:nvPicPr>
          <p:cNvPr id="35" name="Image 11" descr="/home/z/my-project/smart-clinic-ppt/asset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901952"/>
            <a:ext cx="256032" cy="25603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376672" y="183794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clinic.model</a:t>
            </a:r>
            <a:endParaRPr lang="en-US" sz="1050" dirty="0"/>
          </a:p>
        </p:txBody>
      </p:sp>
      <p:sp>
        <p:nvSpPr>
          <p:cNvPr id="37" name="Text 23"/>
          <p:cNvSpPr/>
          <p:nvPr/>
        </p:nvSpPr>
        <p:spPr>
          <a:xfrm>
            <a:off x="5376672" y="205740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data classes: Person, Patient, Doctor, Appointment, Prescription</a:t>
            </a:r>
            <a:endParaRPr lang="en-US" sz="950" dirty="0"/>
          </a:p>
        </p:txBody>
      </p:sp>
      <p:sp>
        <p:nvSpPr>
          <p:cNvPr id="38" name="Shape 24"/>
          <p:cNvSpPr/>
          <p:nvPr/>
        </p:nvSpPr>
        <p:spPr>
          <a:xfrm>
            <a:off x="4846320" y="2359152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25"/>
          <p:cNvSpPr/>
          <p:nvPr/>
        </p:nvSpPr>
        <p:spPr>
          <a:xfrm>
            <a:off x="4992624" y="2487168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CCFBF1"/>
          </a:solidFill>
        </p:spPr>
      </p:sp>
      <p:pic>
        <p:nvPicPr>
          <p:cNvPr id="40" name="Image 12" descr="/home/z/my-project/smart-clinic-ppt/asset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505456"/>
            <a:ext cx="256032" cy="25603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5376672" y="244144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clinic.service</a:t>
            </a:r>
            <a:endParaRPr lang="en-US" sz="1050" dirty="0"/>
          </a:p>
        </p:txBody>
      </p:sp>
      <p:sp>
        <p:nvSpPr>
          <p:cNvPr id="42" name="Text 27"/>
          <p:cNvSpPr/>
          <p:nvPr/>
        </p:nvSpPr>
        <p:spPr>
          <a:xfrm>
            <a:off x="5376672" y="266090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(ClinicManager) + CSV I/O (FileManager)</a:t>
            </a:r>
            <a:endParaRPr lang="en-US" sz="950" dirty="0"/>
          </a:p>
        </p:txBody>
      </p:sp>
      <p:sp>
        <p:nvSpPr>
          <p:cNvPr id="43" name="Shape 28"/>
          <p:cNvSpPr/>
          <p:nvPr/>
        </p:nvSpPr>
        <p:spPr>
          <a:xfrm>
            <a:off x="4846320" y="2962656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29"/>
          <p:cNvSpPr/>
          <p:nvPr/>
        </p:nvSpPr>
        <p:spPr>
          <a:xfrm>
            <a:off x="4992624" y="3090672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CCFBF1"/>
          </a:solidFill>
        </p:spPr>
      </p:sp>
      <p:pic>
        <p:nvPicPr>
          <p:cNvPr id="45" name="Image 13" descr="/home/z/my-project/smart-clinic-ppt/asset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108960"/>
            <a:ext cx="256032" cy="25603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5376672" y="304495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clinic.ui</a:t>
            </a:r>
            <a:endParaRPr lang="en-US" sz="1050" dirty="0"/>
          </a:p>
        </p:txBody>
      </p:sp>
      <p:sp>
        <p:nvSpPr>
          <p:cNvPr id="47" name="Text 31"/>
          <p:cNvSpPr/>
          <p:nvPr/>
        </p:nvSpPr>
        <p:spPr>
          <a:xfrm>
            <a:off x="5376672" y="326440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MainFrame — the Swing graphical interface</a:t>
            </a:r>
            <a:endParaRPr lang="en-US" sz="950" dirty="0"/>
          </a:p>
        </p:txBody>
      </p:sp>
      <p:sp>
        <p:nvSpPr>
          <p:cNvPr id="48" name="Shape 32"/>
          <p:cNvSpPr/>
          <p:nvPr/>
        </p:nvSpPr>
        <p:spPr>
          <a:xfrm>
            <a:off x="4846320" y="356616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33"/>
          <p:cNvSpPr/>
          <p:nvPr/>
        </p:nvSpPr>
        <p:spPr>
          <a:xfrm>
            <a:off x="4992624" y="3694176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CCFBF1"/>
          </a:solidFill>
        </p:spPr>
      </p:sp>
      <p:pic>
        <p:nvPicPr>
          <p:cNvPr id="50" name="Image 14" descr="/home/z/my-project/smart-clinic-ppt/asset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712464"/>
            <a:ext cx="256032" cy="256032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5376672" y="364845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clinic</a:t>
            </a:r>
            <a:endParaRPr lang="en-US" sz="1050" dirty="0"/>
          </a:p>
        </p:txBody>
      </p:sp>
      <p:sp>
        <p:nvSpPr>
          <p:cNvPr id="52" name="Text 35"/>
          <p:cNvSpPr/>
          <p:nvPr/>
        </p:nvSpPr>
        <p:spPr>
          <a:xfrm>
            <a:off x="5376672" y="386791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Main.java — application entry point</a:t>
            </a:r>
            <a:endParaRPr lang="en-US" sz="950" dirty="0"/>
          </a:p>
        </p:txBody>
      </p:sp>
      <p:sp>
        <p:nvSpPr>
          <p:cNvPr id="53" name="Shape 36"/>
          <p:cNvSpPr/>
          <p:nvPr/>
        </p:nvSpPr>
        <p:spPr>
          <a:xfrm>
            <a:off x="4846320" y="4169664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37"/>
          <p:cNvSpPr/>
          <p:nvPr/>
        </p:nvSpPr>
        <p:spPr>
          <a:xfrm>
            <a:off x="4992624" y="4297680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CCFBF1"/>
          </a:solidFill>
        </p:spPr>
      </p:sp>
      <p:pic>
        <p:nvPicPr>
          <p:cNvPr id="55" name="Image 15" descr="/home/z/my-project/smart-clinic-ppt/asset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315968"/>
            <a:ext cx="256032" cy="256032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5376672" y="425196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</a:t>
            </a:r>
            <a:endParaRPr lang="en-US" sz="1050" dirty="0"/>
          </a:p>
        </p:txBody>
      </p:sp>
      <p:sp>
        <p:nvSpPr>
          <p:cNvPr id="57" name="Text 39"/>
          <p:cNvSpPr/>
          <p:nvPr/>
        </p:nvSpPr>
        <p:spPr>
          <a:xfrm>
            <a:off x="5376672" y="447141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files: patients, doctors, appointments, prescriptions</a:t>
            </a:r>
            <a:endParaRPr lang="en-US" sz="950" dirty="0"/>
          </a:p>
        </p:txBody>
      </p:sp>
      <p:sp>
        <p:nvSpPr>
          <p:cNvPr id="58" name="Text 40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Object-Oriented Programming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PILLARS &amp; CLASS HIERARCHY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Shape 6"/>
          <p:cNvSpPr/>
          <p:nvPr/>
        </p:nvSpPr>
        <p:spPr>
          <a:xfrm>
            <a:off x="457200" y="1417320"/>
            <a:ext cx="2331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618488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0" name="Image 0" descr="/home/z/my-project/smart-clinic-ppt/assets/encapsu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0078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65506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6656" y="21945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fields + getters/setters (e.g. Patient age, gender, condition).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53512" y="1417320"/>
            <a:ext cx="2331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618488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5" name="Image 1" descr="/home/z/my-project/smart-clinic-ppt/assets/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70078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30752" y="165506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Inheritance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172968" y="21945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&amp; Doctor extend the abstract Person class.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063240"/>
            <a:ext cx="2331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8368" y="3264408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0" name="Image 2" descr="/home/z/my-project/smart-clinic-ppt/assets/abs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4670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30098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76656" y="384048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 defines abstract methods: getRole(), displayInfo().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953512" y="3063240"/>
            <a:ext cx="2331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154680" y="3264408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5" name="Image 3" descr="/home/z/my-project/smart-clinic-ppt/assets/polymorphi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334670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30752" y="330098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Polymorphism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3172968" y="384048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displayInfo() resolves to the actual object at runtime.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40680" y="13716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669280" y="1536192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HIERARCHY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669280" y="1737360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 is the abstract superclass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286500" y="204825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286500" y="2084832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«abstract»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286500" y="22311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7063740" y="2505456"/>
            <a:ext cx="0" cy="384048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6332220" y="2875788"/>
            <a:ext cx="1463040" cy="27432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6" name="Shape 30"/>
          <p:cNvSpPr/>
          <p:nvPr/>
        </p:nvSpPr>
        <p:spPr>
          <a:xfrm>
            <a:off x="6332220" y="2889504"/>
            <a:ext cx="0" cy="292608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7795260" y="2889504"/>
            <a:ext cx="0" cy="292608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5646420" y="3182112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646420" y="318211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Patient</a:t>
            </a:r>
            <a:endParaRPr lang="en-US" sz="1350" dirty="0"/>
          </a:p>
        </p:txBody>
      </p:sp>
      <p:sp>
        <p:nvSpPr>
          <p:cNvPr id="40" name="Shape 34"/>
          <p:cNvSpPr/>
          <p:nvPr/>
        </p:nvSpPr>
        <p:spPr>
          <a:xfrm>
            <a:off x="7200900" y="3182112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200900" y="318211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5E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Doctor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6697980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extends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5829300" y="3822192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4" name="Image 4" descr="/home/z/my-project/smart-clinic-ppt/asset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3922776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259068" y="385876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ClinicManager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259068" y="4069080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all model objects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OOP CONCEPTS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Runtime Polymorphism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SUPERCLASS REFERENCE, SUBCLASS BEHAVIOUR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Shape 6"/>
          <p:cNvSpPr/>
          <p:nvPr/>
        </p:nvSpPr>
        <p:spPr>
          <a:xfrm>
            <a:off x="457200" y="1371600"/>
            <a:ext cx="261518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36192"/>
            <a:ext cx="109728" cy="10972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841248" y="1463040"/>
            <a:ext cx="2112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1700784"/>
            <a:ext cx="211226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and Doctor both inherit from Person.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371600"/>
            <a:ext cx="261518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536192"/>
            <a:ext cx="109728" cy="10972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3648456" y="1463040"/>
            <a:ext cx="2112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Shared storage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48456" y="1700784"/>
            <a:ext cx="211226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List&lt;Person&gt; stores both subclass objects.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371600"/>
            <a:ext cx="261518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536192"/>
            <a:ext cx="109728" cy="10972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6455664" y="1463040"/>
            <a:ext cx="2112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Dynamic dispatch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55664" y="1700784"/>
            <a:ext cx="211226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displayInfo() runs the actual object's override.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42062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53288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115E59"/>
          </a:solidFill>
        </p:spPr>
      </p:sp>
      <p:pic>
        <p:nvPicPr>
          <p:cNvPr id="22" name="Image 0" descr="/home/z/my-project/smart-clinic-ppt/assets/lay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569464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60704" y="2532888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List&lt;Person&gt; people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560320" y="255117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collection, mixed runtime types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30632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1" descr="/home/z/my-project/smart-clinic-ppt/assets/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27832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325880" y="315468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Patient obj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325880" y="339242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displayInfo() → patient line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2651760" y="30632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2" descr="/home/z/my-project/smart-clinic-ppt/asset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227832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200400" y="315468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Doctor obj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3200400" y="339242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displayInfo() → doctor line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2560320" y="3703320"/>
            <a:ext cx="0" cy="38404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1005840" y="4087368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05840" y="414223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person.displayInfo()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1005840" y="441655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the overridden method of the actual object at runtime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937760" y="2331720"/>
            <a:ext cx="3749040" cy="2423160"/>
          </a:xfrm>
          <a:prstGeom prst="roundRect">
            <a:avLst>
              <a:gd name="adj" fmla="val 3774"/>
            </a:avLst>
          </a:prstGeom>
          <a:solidFill>
            <a:srgbClr val="0F1E1E"/>
          </a:solidFill>
          <a:ln w="12700">
            <a:solidFill>
              <a:srgbClr val="1F3A3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5138928" y="2532888"/>
            <a:ext cx="109728" cy="109728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39" name="Shape 34"/>
          <p:cNvSpPr/>
          <p:nvPr/>
        </p:nvSpPr>
        <p:spPr>
          <a:xfrm>
            <a:off x="5303520" y="2532888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0" name="Shape 35"/>
          <p:cNvSpPr/>
          <p:nvPr/>
        </p:nvSpPr>
        <p:spPr>
          <a:xfrm>
            <a:off x="5468112" y="2532888"/>
            <a:ext cx="109728" cy="1097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6"/>
          <p:cNvSpPr/>
          <p:nvPr/>
        </p:nvSpPr>
        <p:spPr>
          <a:xfrm>
            <a:off x="5760720" y="247802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ClinicManager.java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5193792" y="283464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shared superclass list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5193792" y="304038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F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List&lt;Person&gt; people = new ArrayList&lt;&gt;();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5193792" y="324612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F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people.add(new Patient(...));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5193792" y="345186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F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people.add(new Doctor(...));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5193792" y="365760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F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5193792" y="386334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runtime polymorphism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5193792" y="406908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F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(Person person : people) {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5193792" y="427482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F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info.add(person.displayInfo());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5193792" y="448056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F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RUNTIME POLYMORPHISM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Collections and File I/O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IN-MEMORY STORAGE &amp; CSV PERSISTENCE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Text 6"/>
          <p:cNvSpPr/>
          <p:nvPr/>
        </p:nvSpPr>
        <p:spPr>
          <a:xfrm>
            <a:off x="457200" y="137160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In-memory collections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20624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LinkedHashMap&lt;String, Patient&gt; — patients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LinkedHashMap&lt;String, Doctor&gt; — doctors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LinkedHashMap&lt;String, Appointment&gt; — appointments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LinkedHashMap&lt;String, Prescription&gt; — prescriptions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List&lt;Person&gt; — superclass storage for polymorphism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File I/O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FileManager reads &amp; writes all CSV files.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 (|) is used as the field delimiter.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loaded at start-up, saved after changes.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28016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169164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21808" y="1810512"/>
            <a:ext cx="329184" cy="329184"/>
          </a:xfrm>
          <a:prstGeom prst="roundRect">
            <a:avLst>
              <a:gd name="adj" fmla="val 55556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5" name="Image 0" descr="/home/z/my-project/smart-clinic-ppt/assets/desk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384" y="1847088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60720" y="176479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760720" y="198424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MainFrame (Swing)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49440" y="2258568"/>
            <a:ext cx="0" cy="16459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212080" y="242316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21808" y="2542032"/>
            <a:ext cx="329184" cy="329184"/>
          </a:xfrm>
          <a:prstGeom prst="roundRect">
            <a:avLst>
              <a:gd name="adj" fmla="val 5555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1" descr="/home/z/my-project/smart-clinic-ppt/assets/c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257860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760720" y="249631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ClinicManager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760720" y="271576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+ collections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949440" y="2990088"/>
            <a:ext cx="0" cy="16459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212080" y="315468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321808" y="3273552"/>
            <a:ext cx="329184" cy="329184"/>
          </a:xfrm>
          <a:prstGeom prst="roundRect">
            <a:avLst>
              <a:gd name="adj" fmla="val 55556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7" name="Image 2" descr="/home/z/my-project/smart-clinic-ppt/assets/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331012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760720" y="322783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FileManager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760720" y="344728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read / write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949440" y="3721608"/>
            <a:ext cx="0" cy="16459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5212080" y="388620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21808" y="4005072"/>
            <a:ext cx="329184" cy="329184"/>
          </a:xfrm>
          <a:prstGeom prst="roundRect">
            <a:avLst>
              <a:gd name="adj" fmla="val 5555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3" descr="/home/z/my-project/smart-clinic-ppt/assets/persist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4041648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760720" y="395935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CSV Files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5760720" y="417880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· doctors · appointments · prescriptions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COLLECTIONS &amp; FILE I/O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GUI and System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REQUEST FLOW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Shape 6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9" name="Image 0" descr="/home/z/my-project/smart-clinic-ppt/assets/desk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17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44475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5E5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MainFrame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24128" y="1664208"/>
            <a:ext cx="7406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main Swing GUI class — lets users view and manage clinic entities without touching the CSV files directly.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2825496"/>
            <a:ext cx="438912" cy="438912"/>
          </a:xfrm>
          <a:prstGeom prst="roundRect">
            <a:avLst>
              <a:gd name="adj" fmla="val 625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5" name="Image 1" descr="/home/z/my-project/smart-clinic-ppt/assets/user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90779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330098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655064" y="3131820"/>
            <a:ext cx="18653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1869034" y="2697480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234794" y="2825496"/>
            <a:ext cx="438912" cy="438912"/>
          </a:xfrm>
          <a:prstGeom prst="roundRect">
            <a:avLst>
              <a:gd name="adj" fmla="val 625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/home/z/my-project/smart-clinic-ppt/assets/desk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802" y="290779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69034" y="330098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GUI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066898" y="3131820"/>
            <a:ext cx="18653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280867" y="2697480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46627" y="2825496"/>
            <a:ext cx="438912" cy="438912"/>
          </a:xfrm>
          <a:prstGeom prst="roundRect">
            <a:avLst>
              <a:gd name="adj" fmla="val 625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5" name="Image 3" descr="/home/z/my-project/smart-clinic-ppt/asset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290779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80867" y="330098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ClinicManager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478731" y="3131820"/>
            <a:ext cx="18653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4692701" y="2697480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058461" y="2825496"/>
            <a:ext cx="438912" cy="438912"/>
          </a:xfrm>
          <a:prstGeom prst="roundRect">
            <a:avLst>
              <a:gd name="adj" fmla="val 625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4" descr="/home/z/my-project/smart-clinic-ppt/assets/lay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469" y="2907792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92701" y="330098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 Objects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890565" y="3131820"/>
            <a:ext cx="18653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6104534" y="2697480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70294" y="2825496"/>
            <a:ext cx="438912" cy="438912"/>
          </a:xfrm>
          <a:prstGeom prst="roundRect">
            <a:avLst>
              <a:gd name="adj" fmla="val 6250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5" name="Image 5" descr="/home/z/my-project/smart-clinic-ppt/assets/cs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302" y="2907792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04534" y="330098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FileManager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7302398" y="3131820"/>
            <a:ext cx="18653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7516368" y="2697480"/>
            <a:ext cx="1170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882128" y="2825496"/>
            <a:ext cx="438912" cy="438912"/>
          </a:xfrm>
          <a:prstGeom prst="roundRect">
            <a:avLst>
              <a:gd name="adj" fmla="val 625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0" name="Image 6" descr="/home/z/my-project/smart-clinic-ppt/assets/persist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2907792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516368" y="330098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CSV Data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457200" y="3566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GUI Screenshots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457200" y="3867912"/>
            <a:ext cx="2621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pic>
        <p:nvPicPr>
          <p:cNvPr id="44" name="Image 7" descr="/home/z/my-project/smart-clinic-ppt/assets/screenshot_ph.png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603248" y="3941064"/>
            <a:ext cx="329184" cy="32918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57200" y="4361688"/>
            <a:ext cx="2621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Dashboard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457200" y="4581144"/>
            <a:ext cx="2621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screenshot ]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3261360" y="3867912"/>
            <a:ext cx="2621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pic>
        <p:nvPicPr>
          <p:cNvPr id="48" name="Image 8" descr="/home/z/my-project/smart-clinic-ppt/assets/screenshot_ph.png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4407408" y="3941064"/>
            <a:ext cx="329184" cy="32918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3261360" y="4361688"/>
            <a:ext cx="2621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/ Doctor Mgmt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3261360" y="4581144"/>
            <a:ext cx="2621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screenshot ]</a:t>
            </a:r>
            <a:endParaRPr lang="en-US" sz="800" dirty="0"/>
          </a:p>
        </p:txBody>
      </p:sp>
      <p:sp>
        <p:nvSpPr>
          <p:cNvPr id="51" name="Shape 40"/>
          <p:cNvSpPr/>
          <p:nvPr/>
        </p:nvSpPr>
        <p:spPr>
          <a:xfrm>
            <a:off x="6065520" y="3867912"/>
            <a:ext cx="2621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pic>
        <p:nvPicPr>
          <p:cNvPr id="52" name="Image 9" descr="/home/z/my-project/smart-clinic-ppt/assets/screenshot_ph.png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7211568" y="3941064"/>
            <a:ext cx="329184" cy="329184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6065520" y="4361688"/>
            <a:ext cx="2621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 / Prescription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6065520" y="4581144"/>
            <a:ext cx="2621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screenshot ]</a:t>
            </a:r>
            <a:endParaRPr lang="en-US" sz="800" dirty="0"/>
          </a:p>
        </p:txBody>
      </p:sp>
      <p:sp>
        <p:nvSpPr>
          <p:cNvPr id="55" name="Text 43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GUI &amp; WORKFLOW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CASES COVERING MAIN OPERATIONS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0" y="457200"/>
            <a:ext cx="54864" cy="54864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7" name="Shape 5"/>
          <p:cNvSpPr/>
          <p:nvPr/>
        </p:nvSpPr>
        <p:spPr>
          <a:xfrm>
            <a:off x="8183880" y="484632"/>
            <a:ext cx="36576" cy="36576"/>
          </a:xfrm>
          <a:prstGeom prst="ellipse">
            <a:avLst/>
          </a:prstGeom>
          <a:solidFill>
            <a:srgbClr val="CCFBF1"/>
          </a:solidFill>
        </p:spPr>
      </p:sp>
      <p:sp>
        <p:nvSpPr>
          <p:cNvPr id="8" name="Text 6"/>
          <p:cNvSpPr/>
          <p:nvPr/>
        </p:nvSpPr>
        <p:spPr>
          <a:xfrm>
            <a:off x="457200" y="1371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37360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Patient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828800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13" name="Image 0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837944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615184" y="1828800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5E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2212848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212848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22128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Doctor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377440" y="2304288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19" name="Image 1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313432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15184" y="2304288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5E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57200" y="2688336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2688336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14400" y="2688336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Appointment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2377440" y="2779776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25" name="Image 2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788920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615184" y="277977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5E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457200" y="3163824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66928" y="3163824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14400" y="316382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Patient ID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2377440" y="3255264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pic>
        <p:nvPicPr>
          <p:cNvPr id="31" name="Image 3" descr="/home/z/my-project/smart-clinic-ppt/assets/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264408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615184" y="3255264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457200" y="3639312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66928" y="3639312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14400" y="363931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Doctor ID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2377440" y="3730752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pic>
        <p:nvPicPr>
          <p:cNvPr id="37" name="Image 4" descr="/home/z/my-project/smart-clinic-ppt/assets/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739896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615184" y="3730752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3108960" y="1737360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218688" y="1737360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3566160" y="173736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Prescription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029200" y="1828800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43" name="Image 5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37944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266944" y="1828800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5E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3108960" y="2212848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218688" y="2212848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3566160" y="22128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Appointment ID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5029200" y="2304288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pic>
        <p:nvPicPr>
          <p:cNvPr id="49" name="Image 6" descr="/home/z/my-project/smart-clinic-ppt/assets/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313432"/>
            <a:ext cx="182880" cy="18288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266944" y="2304288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</a:t>
            </a:r>
            <a:endParaRPr lang="en-US" sz="750" dirty="0"/>
          </a:p>
        </p:txBody>
      </p:sp>
      <p:sp>
        <p:nvSpPr>
          <p:cNvPr id="51" name="Shape 42"/>
          <p:cNvSpPr/>
          <p:nvPr/>
        </p:nvSpPr>
        <p:spPr>
          <a:xfrm>
            <a:off x="3108960" y="2688336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3218688" y="2688336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3566160" y="2688336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Patient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5029200" y="2779776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55" name="Image 7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788920"/>
            <a:ext cx="182880" cy="18288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266944" y="277977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5E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750" dirty="0"/>
          </a:p>
        </p:txBody>
      </p:sp>
      <p:sp>
        <p:nvSpPr>
          <p:cNvPr id="57" name="Shape 47"/>
          <p:cNvSpPr/>
          <p:nvPr/>
        </p:nvSpPr>
        <p:spPr>
          <a:xfrm>
            <a:off x="3108960" y="3163824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3218688" y="3163824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</a:t>
            </a:r>
            <a:endParaRPr lang="en-US" sz="1100" dirty="0"/>
          </a:p>
        </p:txBody>
      </p:sp>
      <p:sp>
        <p:nvSpPr>
          <p:cNvPr id="59" name="Text 49"/>
          <p:cNvSpPr/>
          <p:nvPr/>
        </p:nvSpPr>
        <p:spPr>
          <a:xfrm>
            <a:off x="3566160" y="316382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Persistence</a:t>
            </a:r>
            <a:endParaRPr lang="en-US" sz="1100" dirty="0"/>
          </a:p>
        </p:txBody>
      </p:sp>
      <p:sp>
        <p:nvSpPr>
          <p:cNvPr id="60" name="Shape 50"/>
          <p:cNvSpPr/>
          <p:nvPr/>
        </p:nvSpPr>
        <p:spPr>
          <a:xfrm>
            <a:off x="5029200" y="3255264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61" name="Image 8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3264408"/>
            <a:ext cx="182880" cy="182880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5266944" y="3255264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5E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3108960" y="3639312"/>
            <a:ext cx="23774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3218688" y="3639312"/>
            <a:ext cx="292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endParaRPr lang="en-US" sz="1100" dirty="0"/>
          </a:p>
        </p:txBody>
      </p:sp>
      <p:sp>
        <p:nvSpPr>
          <p:cNvPr id="65" name="Text 54"/>
          <p:cNvSpPr/>
          <p:nvPr/>
        </p:nvSpPr>
        <p:spPr>
          <a:xfrm>
            <a:off x="3566160" y="363931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66" name="Shape 55"/>
          <p:cNvSpPr/>
          <p:nvPr/>
        </p:nvSpPr>
        <p:spPr>
          <a:xfrm>
            <a:off x="5029200" y="3730752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67" name="Image 9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3739896"/>
            <a:ext cx="182880" cy="182880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5266944" y="3730752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5E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750" dirty="0"/>
          </a:p>
        </p:txBody>
      </p:sp>
      <p:sp>
        <p:nvSpPr>
          <p:cNvPr id="69" name="Shape 57"/>
          <p:cNvSpPr/>
          <p:nvPr/>
        </p:nvSpPr>
        <p:spPr>
          <a:xfrm>
            <a:off x="457200" y="4160520"/>
            <a:ext cx="274320" cy="201168"/>
          </a:xfrm>
          <a:prstGeom prst="roundRect">
            <a:avLst>
              <a:gd name="adj" fmla="val 50000"/>
            </a:avLst>
          </a:prstGeom>
          <a:solidFill>
            <a:srgbClr val="CCFBF1"/>
          </a:solidFill>
        </p:spPr>
      </p:sp>
      <p:pic>
        <p:nvPicPr>
          <p:cNvPr id="70" name="Image 10" descr="/home/z/my-project/smart-clinic-ppt/asset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69664"/>
            <a:ext cx="182880" cy="182880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804672" y="41605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 operation accepted</a:t>
            </a:r>
            <a:endParaRPr lang="en-US" sz="950" dirty="0"/>
          </a:p>
        </p:txBody>
      </p:sp>
      <p:sp>
        <p:nvSpPr>
          <p:cNvPr id="72" name="Shape 59"/>
          <p:cNvSpPr/>
          <p:nvPr/>
        </p:nvSpPr>
        <p:spPr>
          <a:xfrm>
            <a:off x="2926080" y="4160520"/>
            <a:ext cx="27432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pic>
        <p:nvPicPr>
          <p:cNvPr id="73" name="Image 11" descr="/home/z/my-project/smart-clinic-ppt/assets/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169664"/>
            <a:ext cx="182880" cy="182880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3273552" y="416052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input correctly rejected</a:t>
            </a:r>
            <a:endParaRPr lang="en-US" sz="950" dirty="0"/>
          </a:p>
        </p:txBody>
      </p:sp>
      <p:sp>
        <p:nvSpPr>
          <p:cNvPr id="75" name="Text 61"/>
          <p:cNvSpPr/>
          <p:nvPr/>
        </p:nvSpPr>
        <p:spPr>
          <a:xfrm>
            <a:off x="5760720" y="13716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Output</a:t>
            </a:r>
            <a:endParaRPr lang="en-US" sz="1300" dirty="0"/>
          </a:p>
        </p:txBody>
      </p:sp>
      <p:sp>
        <p:nvSpPr>
          <p:cNvPr id="76" name="Shape 62"/>
          <p:cNvSpPr/>
          <p:nvPr/>
        </p:nvSpPr>
        <p:spPr>
          <a:xfrm>
            <a:off x="5760720" y="1691640"/>
            <a:ext cx="2926080" cy="2971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pic>
        <p:nvPicPr>
          <p:cNvPr id="77" name="Image 12" descr="/home/z/my-project/smart-clinic-ppt/assets/screenshot_ph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931152" y="2468880"/>
            <a:ext cx="585216" cy="585216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5760720" y="32004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test screenshots ]</a:t>
            </a:r>
            <a:endParaRPr lang="en-US" sz="1000" dirty="0"/>
          </a:p>
        </p:txBody>
      </p:sp>
      <p:sp>
        <p:nvSpPr>
          <p:cNvPr id="79" name="Text 64"/>
          <p:cNvSpPr/>
          <p:nvPr/>
        </p:nvSpPr>
        <p:spPr>
          <a:xfrm>
            <a:off x="5760720" y="349300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tests &amp; GUI outputs</a:t>
            </a:r>
            <a:endParaRPr lang="en-US" sz="900" dirty="0"/>
          </a:p>
        </p:txBody>
      </p:sp>
      <p:sp>
        <p:nvSpPr>
          <p:cNvPr id="80" name="Text 65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CLINIC MANAGEMENT SYSTEM  ·  TESTING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smart-clinic-ppt/assets/rocket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5852160" y="82296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" name="Text 1"/>
          <p:cNvSpPr/>
          <p:nvPr/>
        </p:nvSpPr>
        <p:spPr>
          <a:xfrm>
            <a:off x="713232" y="274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Improvements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13232" y="749808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 ·  WHAT'S NEXT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15200" y="3657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114800" cy="2743200"/>
          </a:xfrm>
          <a:prstGeom prst="roundRect">
            <a:avLst>
              <a:gd name="adj" fmla="val 4000"/>
            </a:avLst>
          </a:prstGeom>
          <a:solidFill>
            <a:srgbClr val="0F3A3A"/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8" name="Image 1" descr="/home/z/my-project/smart-clinic-ppt/assets/check_dou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790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49961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13232" y="192024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Demonstrates Java OOP in a realistic healthcare scenario.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GUI, collections, file persistence, validation &amp; logic.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encapsulation, inheritance, abstraction &amp; polymorphism.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package structure — easy to maintain and extend.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SDG 3 — Good Health and Well-being.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0F3A3A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2" name="Image 2" descr="/home/z/my-project/smart-clinic-ppt/asset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179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21808" y="149961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983480" y="1975104"/>
            <a:ext cx="292608" cy="292608"/>
          </a:xfrm>
          <a:prstGeom prst="roundRect">
            <a:avLst>
              <a:gd name="adj" fmla="val 62500"/>
            </a:avLst>
          </a:prstGeom>
          <a:solidFill>
            <a:srgbClr val="FEF3C7"/>
          </a:solidFill>
        </p:spPr>
      </p:sp>
      <p:pic>
        <p:nvPicPr>
          <p:cNvPr id="15" name="Image 3" descr="/home/z/my-project/smart-clinic-ppt/assets/db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9933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76672" y="193852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instead of CSV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983480" y="2377440"/>
            <a:ext cx="292608" cy="292608"/>
          </a:xfrm>
          <a:prstGeom prst="roundRect">
            <a:avLst>
              <a:gd name="adj" fmla="val 62500"/>
            </a:avLst>
          </a:prstGeom>
          <a:solidFill>
            <a:srgbClr val="FEF3C7"/>
          </a:solidFill>
        </p:spPr>
      </p:sp>
      <p:pic>
        <p:nvPicPr>
          <p:cNvPr id="18" name="Image 4" descr="/home/z/my-project/smart-clinic-ppt/assets/auth_fu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239572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76672" y="234086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&amp; role-based access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4983480" y="2779776"/>
            <a:ext cx="292608" cy="292608"/>
          </a:xfrm>
          <a:prstGeom prst="roundRect">
            <a:avLst>
              <a:gd name="adj" fmla="val 62500"/>
            </a:avLst>
          </a:prstGeom>
          <a:solidFill>
            <a:srgbClr val="FEF3C7"/>
          </a:solidFill>
        </p:spPr>
      </p:sp>
      <p:pic>
        <p:nvPicPr>
          <p:cNvPr id="21" name="Image 5" descr="/home/z/my-project/smart-clinic-ppt/assets/conflict_fu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79806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76672" y="2743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appointment conflict checking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4983480" y="3182112"/>
            <a:ext cx="292608" cy="292608"/>
          </a:xfrm>
          <a:prstGeom prst="roundRect">
            <a:avLst>
              <a:gd name="adj" fmla="val 62500"/>
            </a:avLst>
          </a:prstGeom>
          <a:solidFill>
            <a:srgbClr val="FEF3C7"/>
          </a:solidFill>
        </p:spPr>
      </p:sp>
      <p:pic>
        <p:nvPicPr>
          <p:cNvPr id="24" name="Image 6" descr="/home/z/my-project/smart-clinic-ppt/assets/search_fu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200400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76672" y="314553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search, filtering &amp; reporting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4983480" y="3584448"/>
            <a:ext cx="292608" cy="292608"/>
          </a:xfrm>
          <a:prstGeom prst="roundRect">
            <a:avLst>
              <a:gd name="adj" fmla="val 62500"/>
            </a:avLst>
          </a:prstGeom>
          <a:solidFill>
            <a:srgbClr val="FEF3C7"/>
          </a:solidFill>
        </p:spPr>
      </p:sp>
      <p:pic>
        <p:nvPicPr>
          <p:cNvPr id="27" name="Image 7" descr="/home/z/my-project/smart-clinic-ppt/assets/a11y_fut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768" y="360273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76672" y="35478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GUI accessibility &amp; usability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457200" y="41605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0" name="Shape 20"/>
          <p:cNvSpPr/>
          <p:nvPr/>
        </p:nvSpPr>
        <p:spPr>
          <a:xfrm>
            <a:off x="3474720" y="42702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pic>
        <p:nvPicPr>
          <p:cNvPr id="31" name="Image 8" descr="/home/z/my-project/smart-clinic-ppt/assets/ques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4448" y="4306824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858768" y="427024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457200" y="481431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BIT1123  ·  OBJECT ORIENTED PROGRAMMING (JAVA)  ·  FINAL PROJECT  ·  SDG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6571</Words>
  <Application>WPS Presentation</Application>
  <PresentationFormat>On-screen Show (16:9)</PresentationFormat>
  <Paragraphs>514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Clinic Management System</dc:title>
  <dc:creator>BIT1123 Final Project</dc:creator>
  <dc:subject>PptxGenJS Presentation</dc:subject>
  <cp:lastModifiedBy>medoe</cp:lastModifiedBy>
  <cp:revision>4</cp:revision>
  <dcterms:created xsi:type="dcterms:W3CDTF">2026-08-20T10:35:00Z</dcterms:created>
  <dcterms:modified xsi:type="dcterms:W3CDTF">2026-08-20T14:39:02Z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7AC38FF1DD4542C6B27D6DF8E7A1AB9D_13</vt:lpwstr>
  </property>
  <property fmtid="{D5CDD505-2E9C-101B-9397-08002B2CF9AE}" pid="3" name="KSOProductBuildVer">
    <vt:lpwstr>2057-12.2.0.23206</vt:lpwstr>
  </property>
</Properties>
</file>